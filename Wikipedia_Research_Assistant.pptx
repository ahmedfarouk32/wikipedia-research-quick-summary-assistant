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ln w="19050">
            <a:solidFill>
              <a:srgbClr val="2B2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548640"/>
            <a:ext cx="2743200" cy="2743200"/>
          </a:xfrm>
          <a:prstGeom prst="ellipse">
            <a:avLst/>
          </a:prstGeom>
          <a:ln w="19050">
            <a:solidFill>
              <a:srgbClr val="3A24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85800"/>
            <a:ext cx="1051560" cy="105156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948690"/>
            <a:ext cx="525780" cy="5257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06 · CONNECTX SUMMER TRAINING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Wikipedia Research &amp; Quick Summary Assistant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Wikipedia research agent that personalizes explanations by audience, measures reading effort, and turns any topic into a gradeable, exportable study deck.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5989320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5989320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69364" y="598932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12" name="Text 9"/>
          <p:cNvSpPr/>
          <p:nvPr/>
        </p:nvSpPr>
        <p:spPr>
          <a:xfrm>
            <a:off x="1769364" y="598932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994660" y="5989320"/>
            <a:ext cx="1504188" cy="384048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14" name="Text 11"/>
          <p:cNvSpPr/>
          <p:nvPr/>
        </p:nvSpPr>
        <p:spPr>
          <a:xfrm>
            <a:off x="2994660" y="5989320"/>
            <a:ext cx="1504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API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00016" y="598932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16" name="Text 13"/>
          <p:cNvSpPr/>
          <p:nvPr/>
        </p:nvSpPr>
        <p:spPr>
          <a:xfrm>
            <a:off x="4700016" y="598932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Explanation Doesn't Fit Every Learner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12848"/>
            <a:ext cx="731520" cy="73152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957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8483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sense of effort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49631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are long and dense, with no quick way to gauge how much time or focus they'll take to read.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721608"/>
            <a:ext cx="731520" cy="73152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9044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5935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explanation for everyone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874520" y="400507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dense encyclopedic tone whether you're a beginner meeting the topic for the first time or a researcher who needs precision.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5230368"/>
            <a:ext cx="731520" cy="73152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4132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510235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way to check understanding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74520" y="551383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built in to turn passive reading into active recall — students have to write their own quiz questions.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Search Becomes a Full, Personalized Study Deck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931920"/>
          </a:xfrm>
          <a:prstGeom prst="roundRect">
            <a:avLst>
              <a:gd name="adj" fmla="val 3273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2468880"/>
            <a:ext cx="1005840" cy="100584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7203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 Search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topic and choose Beginner or Academic mode.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63240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83280" y="1965960"/>
            <a:ext cx="2514600" cy="3931920"/>
          </a:xfrm>
          <a:prstGeom prst="roundRect">
            <a:avLst>
              <a:gd name="adj" fmla="val 3273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37660" y="2468880"/>
            <a:ext cx="1005840" cy="100584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7203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 Personalize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66160" y="42062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rewrites the summary, takeaways &amp; vocabulary at the right depth.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897880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17920" y="1965960"/>
            <a:ext cx="2514600" cy="3931920"/>
          </a:xfrm>
          <a:prstGeom prst="roundRect">
            <a:avLst>
              <a:gd name="adj" fmla="val 3273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72300" y="2468880"/>
            <a:ext cx="1005840" cy="100584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7203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 Quiz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400800" y="42062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multiple-choice quiz is generated from the article.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732520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52560" y="1965960"/>
            <a:ext cx="2514600" cy="3931920"/>
          </a:xfrm>
          <a:prstGeom prst="roundRect">
            <a:avLst>
              <a:gd name="adj" fmla="val 3273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806940" y="2468880"/>
            <a:ext cx="1005840" cy="100584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72034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 Export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235440" y="42062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downloads as one Markdown study deck.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76065" y="1600200"/>
            <a:ext cx="3840480" cy="777240"/>
          </a:xfrm>
          <a:prstGeom prst="roundRect">
            <a:avLst>
              <a:gd name="adj" fmla="val 10588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0657" y="1760220"/>
            <a:ext cx="457200" cy="45720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3527" y="18630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53305" y="1673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Browser 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53305" y="20208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JS (fetch)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96305" y="2377440"/>
            <a:ext cx="0" cy="320040"/>
          </a:xfrm>
          <a:prstGeom prst="line">
            <a:avLst/>
          </a:prstGeom>
          <a:noFill/>
          <a:ln w="25400">
            <a:solidFill>
              <a:srgbClr val="FF6B5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176065" y="2697480"/>
            <a:ext cx="3840480" cy="777240"/>
          </a:xfrm>
          <a:prstGeom prst="roundRect">
            <a:avLst>
              <a:gd name="adj" fmla="val 10588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0657" y="2857500"/>
            <a:ext cx="457200" cy="45720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527" y="296037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53305" y="2770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53305" y="31181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· routing · error handling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96305" y="3474720"/>
            <a:ext cx="0" cy="320040"/>
          </a:xfrm>
          <a:prstGeom prst="line">
            <a:avLst/>
          </a:prstGeom>
          <a:noFill/>
          <a:ln w="25400">
            <a:solidFill>
              <a:srgbClr val="FF6B5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15945" y="3794760"/>
            <a:ext cx="2880360" cy="0"/>
          </a:xfrm>
          <a:prstGeom prst="line">
            <a:avLst/>
          </a:prstGeom>
          <a:noFill/>
          <a:ln w="25400">
            <a:solidFill>
              <a:srgbClr val="FF6B5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96305" y="3794760"/>
            <a:ext cx="2880360" cy="0"/>
          </a:xfrm>
          <a:prstGeom prst="line">
            <a:avLst/>
          </a:prstGeom>
          <a:noFill/>
          <a:ln w="25400">
            <a:solidFill>
              <a:srgbClr val="FF6B5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15945" y="3794760"/>
            <a:ext cx="0" cy="365760"/>
          </a:xfrm>
          <a:prstGeom prst="line">
            <a:avLst/>
          </a:prstGeom>
          <a:noFill/>
          <a:ln w="25400">
            <a:solidFill>
              <a:srgbClr val="FF6B5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976665" y="3794760"/>
            <a:ext cx="0" cy="365760"/>
          </a:xfrm>
          <a:prstGeom prst="line">
            <a:avLst/>
          </a:prstGeom>
          <a:noFill/>
          <a:ln w="25400">
            <a:solidFill>
              <a:srgbClr val="FF6B5E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1570025" y="416052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98625" y="4416552"/>
            <a:ext cx="594360" cy="59436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356" y="4550283"/>
            <a:ext cx="326898" cy="32689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530145" y="4361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Wikipedia API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798625" y="4937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search · full text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topics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330745" y="416052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59345" y="4416552"/>
            <a:ext cx="594360" cy="59436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076" y="4550283"/>
            <a:ext cx="326898" cy="32689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290865" y="4361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Groq LLM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559345" y="4937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summary · vocabulary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generation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return structured JSON to FastAPI, which the frontend renders directly — no separate agent-executor loop.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Tools, One Grounded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74520"/>
            <a:ext cx="594360" cy="59436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403" y="20082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2432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wikipedia_search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953512"/>
            <a:ext cx="3002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the live, full-text article for any topic — handles disambiguation and missing pages.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8160" y="160020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4192" y="1874520"/>
            <a:ext cx="594360" cy="59436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923" y="200825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4192" y="262432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calculate_reading_metrics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84192" y="2953512"/>
            <a:ext cx="3002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Python: word count, reading time at 200 WPM, and a complexity rating. No LLM involved.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7680" y="160020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3712" y="1874520"/>
            <a:ext cx="594360" cy="59436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443" y="200825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3712" y="262432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fetch_related_wiki_topics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63712" y="2953512"/>
            <a:ext cx="3002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3–5 related topics via the Wikipedia API to guide further exploration.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343400"/>
            <a:ext cx="594360" cy="59436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" y="447713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09320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generate_study_quiz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422392"/>
            <a:ext cx="3002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multiple-choice quiz with answer keys, strictly grounded in the retrieved article.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8160" y="406908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84192" y="4343400"/>
            <a:ext cx="594360" cy="59436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923" y="447713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4192" y="509320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export_study_deck_markdown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84192" y="5422392"/>
            <a:ext cx="3002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Serializes the summary, vocabulary, and quiz into one downloadable .md study deck.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7680" y="406908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63712" y="4343400"/>
            <a:ext cx="594360" cy="59436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443" y="4477131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3712" y="5093208"/>
            <a:ext cx="300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Persona Router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63712" y="5422392"/>
            <a:ext cx="3002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Alters LLM temperature, vocabulary, and depth based on Beginner vs Academic mode.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PERSONA ROUTER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Article, Two Different Explanations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84248"/>
            <a:ext cx="685800" cy="68580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138553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Beginner (ELI5)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737360" y="2423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9" name="Text 6"/>
          <p:cNvSpPr/>
          <p:nvPr/>
        </p:nvSpPr>
        <p:spPr>
          <a:xfrm>
            <a:off x="1737360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2971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326440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sentences, everyday words, simple analogies. Any technical term is defined in plain language right after it's used.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389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"PHOTOSYNTHESIS"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8680" y="4690872"/>
            <a:ext cx="4709160" cy="1188720"/>
          </a:xfrm>
          <a:prstGeom prst="roundRect">
            <a:avLst>
              <a:gd name="adj" fmla="val 6154"/>
            </a:avLst>
          </a:prstGeom>
          <a:solidFill>
            <a:srgbClr val="14141F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481888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"Plants use sunlight like a recipe to turn water and air into their own food — and they let off oxygen while doing it."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1984248"/>
            <a:ext cx="685800" cy="68580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985" y="2138553"/>
            <a:ext cx="377190" cy="3771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52360" y="2011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Academic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7452360" y="2423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20" name="Text 16"/>
          <p:cNvSpPr/>
          <p:nvPr/>
        </p:nvSpPr>
        <p:spPr>
          <a:xfrm>
            <a:off x="7452360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0.3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583680" y="2971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583680" y="326440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field-appropriate vocabulary aimed at a university research audience. Rigorous and specific, lower randomness.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583680" y="4389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"PHOTOSYNTHESIS"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583680" y="4690872"/>
            <a:ext cx="4709160" cy="1188720"/>
          </a:xfrm>
          <a:prstGeom prst="roundRect">
            <a:avLst>
              <a:gd name="adj" fmla="val 6154"/>
            </a:avLst>
          </a:prstGeom>
          <a:solidFill>
            <a:srgbClr val="14141F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66560" y="481888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"Photosynthesis converts light energy into chemical energy stored in organic compounds, releasing molecular oxygen as a byproduct of water photolysis."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21408"/>
            <a:ext cx="640080" cy="64008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" y="2265426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7510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&amp; Agent Core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89120" y="226771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0" y="2267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0" y="2267712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22677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library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89520" y="226771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0" y="2267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(openai/gpt-oss-120b)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310128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3602736"/>
            <a:ext cx="640080" cy="64008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98" y="3746754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7360" y="34564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389120" y="37490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19" name="Text 15"/>
          <p:cNvSpPr/>
          <p:nvPr/>
        </p:nvSpPr>
        <p:spPr>
          <a:xfrm>
            <a:off x="438912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577840" y="3749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21" name="Text 17"/>
          <p:cNvSpPr/>
          <p:nvPr/>
        </p:nvSpPr>
        <p:spPr>
          <a:xfrm>
            <a:off x="557784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858000" y="37490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4791456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68680" y="5084064"/>
            <a:ext cx="640080" cy="64008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5228082"/>
            <a:ext cx="352044" cy="3520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737360" y="4937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4389120" y="5230368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29" name="Text 24"/>
          <p:cNvSpPr/>
          <p:nvPr/>
        </p:nvSpPr>
        <p:spPr>
          <a:xfrm>
            <a:off x="4389120" y="5230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(ES6+ fetch)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7772400" y="5230368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31" name="Text 26"/>
          <p:cNvSpPr/>
          <p:nvPr/>
        </p:nvSpPr>
        <p:spPr>
          <a:xfrm>
            <a:off x="7772400" y="52303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8778240" y="5230368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3A2420"/>
          </a:solidFill>
          <a:ln/>
        </p:spPr>
      </p:sp>
      <p:sp>
        <p:nvSpPr>
          <p:cNvPr id="33" name="Text 28"/>
          <p:cNvSpPr/>
          <p:nvPr/>
        </p:nvSpPr>
        <p:spPr>
          <a:xfrm>
            <a:off x="8778240" y="52303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Owners, One Working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93008" cy="2286000"/>
          </a:xfrm>
          <a:prstGeom prst="roundRect">
            <a:avLst>
              <a:gd name="adj" fmla="val 360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9384" y="2084832"/>
            <a:ext cx="731520" cy="73152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224942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9923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 &amp; Integration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4564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structure, Pydantic schemas, error handling — wiring every tool together.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61104" y="1828800"/>
            <a:ext cx="3493008" cy="2286000"/>
          </a:xfrm>
          <a:prstGeom prst="roundRect">
            <a:avLst>
              <a:gd name="adj" fmla="val 360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41848" y="2084832"/>
            <a:ext cx="731520" cy="73152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24942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43984" y="299923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Wikipedia Retrieval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89704" y="34564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wikipedia_search &amp; fetch_related_wiki_topics; handling missing or ambiguous pages.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73568" y="1828800"/>
            <a:ext cx="3493008" cy="2286000"/>
          </a:xfrm>
          <a:prstGeom prst="roundRect">
            <a:avLst>
              <a:gd name="adj" fmla="val 360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54312" y="2084832"/>
            <a:ext cx="731520" cy="73152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4" y="2249424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6448" y="299923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&amp; Persona Router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02168" y="34564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integration, persona-styled summaries, vocabulary, and quiz generation.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404872" y="4389120"/>
            <a:ext cx="3493008" cy="2286000"/>
          </a:xfrm>
          <a:prstGeom prst="roundRect">
            <a:avLst>
              <a:gd name="adj" fmla="val 360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785616" y="4645152"/>
            <a:ext cx="731520" cy="73152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08" y="480974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587752" y="555955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Reading Analytics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2633472" y="601675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calculate_reading_metrics — word count, reading time, complexity. Deterministic, no LLM.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17336" y="4389120"/>
            <a:ext cx="3493008" cy="2286000"/>
          </a:xfrm>
          <a:prstGeom prst="roundRect">
            <a:avLst>
              <a:gd name="adj" fmla="val 3600"/>
            </a:avLst>
          </a:prstGeom>
          <a:solidFill>
            <a:srgbClr val="1B1B2B"/>
          </a:solidFill>
          <a:ln w="12700">
            <a:solidFill>
              <a:srgbClr val="2B2B4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0" y="4645152"/>
            <a:ext cx="731520" cy="73152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4809744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00216" y="555955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 &amp; Export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345936" y="601675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UI, quiz interaction, and the Markdown study-deck export.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ln w="19050">
            <a:solidFill>
              <a:srgbClr val="2B2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417320"/>
            <a:ext cx="1234440" cy="1234440"/>
          </a:xfrm>
          <a:prstGeom prst="ellipse">
            <a:avLst/>
          </a:prstGeom>
          <a:solidFill>
            <a:srgbClr val="FF6B5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010" y="1725930"/>
            <a:ext cx="617220" cy="6172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CEE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Research &amp; Quick Summary Assistant  ·  ConnectX Summer Training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2026-08-22T23:15:27Z</dcterms:created>
  <dcterms:modified xsi:type="dcterms:W3CDTF">2026-08-22T23:15:27Z</dcterms:modified>
</cp:coreProperties>
</file>